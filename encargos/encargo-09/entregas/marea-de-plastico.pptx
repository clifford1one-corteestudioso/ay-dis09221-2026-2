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107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el concepto que hila todo el proyecto: Marea de plástico. El mismo material que contamina el océano es el que construye la imagen del océano.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es: la pieza física, su escala y su materialidad.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qué: la razón del proyecto es el contraste entre el material y el paisaje que contamina.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Cómo: proceso de construcción en cuatro momentos.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quién: el público que recorre la instalación y cambia de lectura al acercarse.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repetir el concepto para dejarlo instalado.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83580" y="1211580"/>
            <a:ext cx="1874520" cy="187452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989777" y="1417777"/>
            <a:ext cx="1462126" cy="1462126"/>
          </a:xfrm>
          <a:prstGeom prst="ellipse">
            <a:avLst/>
          </a:prstGeom>
          <a:solidFill>
            <a:srgbClr val="F08A5D"/>
          </a:solidFill>
          <a:ln w="12700">
            <a:solidFill>
              <a:srgbClr val="F08A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233465" y="1661465"/>
            <a:ext cx="974750" cy="97475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830443" y="3232404"/>
            <a:ext cx="1780794" cy="68580"/>
          </a:xfrm>
          <a:prstGeom prst="roundRect">
            <a:avLst>
              <a:gd name="adj" fmla="val 53333"/>
            </a:avLst>
          </a:prstGeom>
          <a:solidFill>
            <a:srgbClr val="F5B841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924169" y="3387852"/>
            <a:ext cx="1593342" cy="68580"/>
          </a:xfrm>
          <a:prstGeom prst="roundRect">
            <a:avLst>
              <a:gd name="adj" fmla="val 53333"/>
            </a:avLst>
          </a:prstGeom>
          <a:solidFill>
            <a:srgbClr val="E8603C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017895" y="3543300"/>
            <a:ext cx="1405890" cy="68580"/>
          </a:xfrm>
          <a:prstGeom prst="roundRect">
            <a:avLst>
              <a:gd name="adj" fmla="val 53333"/>
            </a:avLst>
          </a:prstGeom>
          <a:solidFill>
            <a:srgbClr val="F5B841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111621" y="3698748"/>
            <a:ext cx="1218438" cy="68580"/>
          </a:xfrm>
          <a:prstGeom prst="roundRect">
            <a:avLst>
              <a:gd name="adj" fmla="val 53333"/>
            </a:avLst>
          </a:prstGeom>
          <a:solidFill>
            <a:srgbClr val="E8603C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205347" y="3854196"/>
            <a:ext cx="1030986" cy="68580"/>
          </a:xfrm>
          <a:prstGeom prst="roundRect">
            <a:avLst>
              <a:gd name="adj" fmla="val 53333"/>
            </a:avLst>
          </a:prstGeom>
          <a:solidFill>
            <a:srgbClr val="F5B841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299073" y="4009644"/>
            <a:ext cx="843534" cy="68580"/>
          </a:xfrm>
          <a:prstGeom prst="roundRect">
            <a:avLst>
              <a:gd name="adj" fmla="val 53333"/>
            </a:avLst>
          </a:prstGeom>
          <a:solidFill>
            <a:srgbClr val="E8603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" y="157276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Marea de plástico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87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lumínica con botellas de plástico reutilizadas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79" y="4069080"/>
            <a:ext cx="50527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Álvarez y Maura García · </a:t>
            </a:r>
            <a:r>
              <a:rPr lang="en-US" sz="1200" dirty="0" err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UDP | Taller IV: </a:t>
            </a:r>
            <a:r>
              <a:rPr lang="en-US" sz="1200" dirty="0" err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propuesta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Marea de plástico es una instalación lumínica de más de un metro de extensión, construida con botellas de plástico reutilizadas y luces LED.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botellas componen un ocaso suspendido y la luz que las atraviesa se proyecta sobre el suelo, simulando el reflejo del sol sobre el agua.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 de extensión · botellas PET · tiras LED cálidas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40680" y="685800"/>
            <a:ext cx="3154680" cy="3749040"/>
          </a:xfrm>
          <a:prstGeom prst="roundRect">
            <a:avLst>
              <a:gd name="adj" fmla="val 1739"/>
            </a:avLst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350508" y="1028700"/>
            <a:ext cx="1325880" cy="132588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96355" y="1174547"/>
            <a:ext cx="1034186" cy="1034186"/>
          </a:xfrm>
          <a:prstGeom prst="ellipse">
            <a:avLst/>
          </a:prstGeom>
          <a:solidFill>
            <a:srgbClr val="F08A5D"/>
          </a:solidFill>
          <a:ln w="12700">
            <a:solidFill>
              <a:srgbClr val="F08A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668719" y="1346911"/>
            <a:ext cx="689458" cy="68945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806440" y="2880360"/>
            <a:ext cx="384048" cy="1051560"/>
          </a:xfrm>
          <a:prstGeom prst="roundRect">
            <a:avLst>
              <a:gd name="adj" fmla="val 19048"/>
            </a:avLst>
          </a:prstGeom>
          <a:solidFill>
            <a:srgbClr val="7FD8D0">
              <a:alpha val="75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355080" y="2514600"/>
            <a:ext cx="384048" cy="1417320"/>
          </a:xfrm>
          <a:prstGeom prst="roundRect">
            <a:avLst>
              <a:gd name="adj" fmla="val 19048"/>
            </a:avLst>
          </a:prstGeom>
          <a:solidFill>
            <a:srgbClr val="BFEAE4">
              <a:alpha val="75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903720" y="3063240"/>
            <a:ext cx="384048" cy="868680"/>
          </a:xfrm>
          <a:prstGeom prst="roundRect">
            <a:avLst>
              <a:gd name="adj" fmla="val 19048"/>
            </a:avLst>
          </a:prstGeom>
          <a:solidFill>
            <a:srgbClr val="7FD8D0">
              <a:alpha val="75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7452360" y="2651760"/>
            <a:ext cx="384048" cy="1280160"/>
          </a:xfrm>
          <a:prstGeom prst="roundRect">
            <a:avLst>
              <a:gd name="adj" fmla="val 19048"/>
            </a:avLst>
          </a:prstGeom>
          <a:solidFill>
            <a:srgbClr val="BFEAE4">
              <a:alpha val="75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001000" y="2926080"/>
            <a:ext cx="384048" cy="1005840"/>
          </a:xfrm>
          <a:prstGeom prst="roundRect">
            <a:avLst>
              <a:gd name="adj" fmla="val 19048"/>
            </a:avLst>
          </a:prstGeom>
          <a:solidFill>
            <a:srgbClr val="7FD8D0">
              <a:alpha val="75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601968" y="4041648"/>
            <a:ext cx="822960" cy="64008"/>
          </a:xfrm>
          <a:prstGeom prst="roundRect">
            <a:avLst>
              <a:gd name="adj" fmla="val 42857"/>
            </a:avLst>
          </a:prstGeom>
          <a:solidFill>
            <a:srgbClr val="F5B84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693408" y="4178808"/>
            <a:ext cx="640080" cy="64008"/>
          </a:xfrm>
          <a:prstGeom prst="roundRect">
            <a:avLst>
              <a:gd name="adj" fmla="val 42857"/>
            </a:avLst>
          </a:prstGeom>
          <a:solidFill>
            <a:srgbClr val="E8603C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784848" y="4315968"/>
            <a:ext cx="457200" cy="64008"/>
          </a:xfrm>
          <a:prstGeom prst="roundRect">
            <a:avLst>
              <a:gd name="adj" fmla="val 42857"/>
            </a:avLst>
          </a:prstGeom>
          <a:solidFill>
            <a:srgbClr val="E8603C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origen de la idea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plástico es hoy uno de los principales contaminantes del océano. Nos interesaba trabajar desde esa contradicción.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23160" cy="2148840"/>
          </a:xfrm>
          <a:prstGeom prst="roundRect">
            <a:avLst>
              <a:gd name="adj" fmla="val 2128"/>
            </a:avLst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96112" y="2286000"/>
            <a:ext cx="310896" cy="31089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96112" y="2724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residuo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272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botella desechada, el material que llega al mar y permanece ahí durante siglos.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423160" cy="2148840"/>
          </a:xfrm>
          <a:prstGeom prst="roundRect">
            <a:avLst>
              <a:gd name="adj" fmla="val 2128"/>
            </a:avLst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593592" y="2286000"/>
            <a:ext cx="310896" cy="310896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3593592" y="2724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imagen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1272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ocaso sobre el agua: el paisaje que ese mismo residuo está destruyendo.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423160" cy="2148840"/>
          </a:xfrm>
          <a:prstGeom prst="roundRect">
            <a:avLst>
              <a:gd name="adj" fmla="val 2128"/>
            </a:avLst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291072" y="2286000"/>
            <a:ext cx="310896" cy="310896"/>
          </a:xfrm>
          <a:prstGeom prst="ellipse">
            <a:avLst/>
          </a:prstGeom>
          <a:solidFill>
            <a:srgbClr val="7FD8D0"/>
          </a:solidFill>
          <a:ln w="12700">
            <a:solidFill>
              <a:srgbClr val="7F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291072" y="2724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tensión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31272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la basura represente al mar obliga a mirarla de otra forma.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Materialidad y montaje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640080" y="1490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21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Recolección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reúnen y lavan botellas PET de distintos formatos y transparencias.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2651760" y="1490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21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5146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cortan y se </a:t>
            </a:r>
            <a:r>
              <a:rPr lang="en-US" sz="1200" dirty="0" err="1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deforman</a:t>
            </a: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dirty="0" err="1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</a:t>
            </a: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construir las formas y capas del ocaso.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663440" y="1490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121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5146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montan sobre un </a:t>
            </a:r>
            <a:r>
              <a:rPr lang="en-US" sz="1200" dirty="0" err="1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alambre </a:t>
            </a:r>
            <a:r>
              <a:rPr lang="en-US" sz="1200" dirty="0" err="1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tensado</a:t>
            </a: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deja pasar la luz en toda su extensión.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566928" cy="56692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675120" y="14904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121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Luz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5146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tiras LED se </a:t>
            </a:r>
            <a:r>
              <a:rPr lang="en-US" sz="1200" dirty="0" err="1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ubican</a:t>
            </a: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medio; el reflejo en el suelo aparece solo.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E7E0D6"/>
          </a:solidFill>
          <a:ln w="12700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68680" y="41605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reflejo no se imprime ni se pinta: es consecuencia directa del material y la luz.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355080" y="1325880"/>
            <a:ext cx="1554480" cy="155448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526073" y="1496873"/>
            <a:ext cx="1212494" cy="1212494"/>
          </a:xfrm>
          <a:prstGeom prst="ellipse">
            <a:avLst/>
          </a:prstGeom>
          <a:solidFill>
            <a:srgbClr val="F08A5D"/>
          </a:solidFill>
          <a:ln w="12700">
            <a:solidFill>
              <a:srgbClr val="F08A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728155" y="1698955"/>
            <a:ext cx="808330" cy="80833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393942" y="3026664"/>
            <a:ext cx="1476756" cy="68580"/>
          </a:xfrm>
          <a:prstGeom prst="roundRect">
            <a:avLst>
              <a:gd name="adj" fmla="val 53333"/>
            </a:avLst>
          </a:prstGeom>
          <a:solidFill>
            <a:srgbClr val="F5B841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71666" y="3182112"/>
            <a:ext cx="1321308" cy="68580"/>
          </a:xfrm>
          <a:prstGeom prst="roundRect">
            <a:avLst>
              <a:gd name="adj" fmla="val 53333"/>
            </a:avLst>
          </a:prstGeom>
          <a:solidFill>
            <a:srgbClr val="E8603C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549390" y="3337560"/>
            <a:ext cx="1165860" cy="68580"/>
          </a:xfrm>
          <a:prstGeom prst="roundRect">
            <a:avLst>
              <a:gd name="adj" fmla="val 53333"/>
            </a:avLst>
          </a:prstGeom>
          <a:solidFill>
            <a:srgbClr val="F5B841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627114" y="3493008"/>
            <a:ext cx="1010412" cy="68580"/>
          </a:xfrm>
          <a:prstGeom prst="roundRect">
            <a:avLst>
              <a:gd name="adj" fmla="val 53333"/>
            </a:avLst>
          </a:prstGeom>
          <a:solidFill>
            <a:srgbClr val="E8603C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704838" y="3648456"/>
            <a:ext cx="854964" cy="68580"/>
          </a:xfrm>
          <a:prstGeom prst="roundRect">
            <a:avLst>
              <a:gd name="adj" fmla="val 53333"/>
            </a:avLst>
          </a:prstGeom>
          <a:solidFill>
            <a:srgbClr val="F5B841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" y="8229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encuentro</a:t>
            </a:r>
            <a:endParaRPr lang="en-US" sz="36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la obra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pensada para quien se acerque y la recorra: público general dentro de un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oscuro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pueda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expresar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correctamente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luz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400" dirty="0" err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lejos se lee como un paisaje; de cerca se reconoce la basura que lo compone. Ese cambio de lectura es el que abre la pregunta por nuestra propia relación con el plástico.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3977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lejos, un ocaso.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cerca, un residuo.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 txBox="1"/>
          <p:nvPr/>
        </p:nvSpPr>
        <p:spPr>
          <a:xfrm>
            <a:off x="-471950" y="-280219"/>
            <a:ext cx="5265175" cy="1199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</a:t>
            </a:r>
            <a:endParaRPr lang="en-US" sz="28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30DF0B-9317-951D-10D7-DF1ACD50A1EA}"/>
              </a:ext>
            </a:extLst>
          </p:cNvPr>
          <p:cNvSpPr txBox="1"/>
          <p:nvPr/>
        </p:nvSpPr>
        <p:spPr>
          <a:xfrm>
            <a:off x="368232" y="3674030"/>
            <a:ext cx="54426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solidFill>
                  <a:schemeClr val="bg1"/>
                </a:solidFill>
              </a:rPr>
              <a:t>Bruce Munro — </a:t>
            </a:r>
            <a:r>
              <a:rPr lang="es-CL" b="1" i="1" dirty="0">
                <a:solidFill>
                  <a:schemeClr val="bg1"/>
                </a:solidFill>
              </a:rPr>
              <a:t>Green Flash</a:t>
            </a:r>
            <a:r>
              <a:rPr lang="es-CL" dirty="0">
                <a:solidFill>
                  <a:schemeClr val="bg1"/>
                </a:solidFill>
              </a:rPr>
              <a:t> (Longwood </a:t>
            </a:r>
            <a:r>
              <a:rPr lang="es-CL" dirty="0" err="1">
                <a:solidFill>
                  <a:schemeClr val="bg1"/>
                </a:solidFill>
              </a:rPr>
              <a:t>Gardens</a:t>
            </a:r>
            <a:r>
              <a:rPr lang="es-CL" dirty="0">
                <a:solidFill>
                  <a:schemeClr val="bg1"/>
                </a:solidFill>
              </a:rPr>
              <a:t>, 2022)</a:t>
            </a:r>
            <a:br>
              <a:rPr lang="es-CL" dirty="0">
                <a:solidFill>
                  <a:schemeClr val="bg1"/>
                </a:solidFill>
              </a:rPr>
            </a:br>
            <a:r>
              <a:rPr lang="es-CL" dirty="0">
                <a:solidFill>
                  <a:schemeClr val="bg1"/>
                </a:solidFill>
              </a:rPr>
              <a:t>Esfera geodésica de 1820 botellas PET vacías que recrea el destello verde que ocurre justo después del atardecer. </a:t>
            </a:r>
            <a:endParaRPr lang="es-CL" sz="2400" dirty="0">
              <a:solidFill>
                <a:schemeClr val="bg1"/>
              </a:solidFill>
            </a:endParaRPr>
          </a:p>
        </p:txBody>
      </p:sp>
      <p:pic>
        <p:nvPicPr>
          <p:cNvPr id="14" name="Imagen 13" descr="Green Flash - Bruce Munro Studio">
            <a:extLst>
              <a:ext uri="{FF2B5EF4-FFF2-40B4-BE49-F238E27FC236}">
                <a16:creationId xmlns:a16="http://schemas.microsoft.com/office/drawing/2014/main" id="{8DF85F35-DFBB-A809-E2ED-F70C4E7E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96" y="705831"/>
            <a:ext cx="2785848" cy="278584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0459A36-0B71-5B3C-CDEA-E45F4B945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613" y="1931629"/>
            <a:ext cx="2478179" cy="165292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436DD45-1839-79E4-B201-E9ADFC67D276}"/>
              </a:ext>
            </a:extLst>
          </p:cNvPr>
          <p:cNvSpPr txBox="1"/>
          <p:nvPr/>
        </p:nvSpPr>
        <p:spPr>
          <a:xfrm>
            <a:off x="3869589" y="363126"/>
            <a:ext cx="48079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solidFill>
                  <a:schemeClr val="bg1"/>
                </a:solidFill>
              </a:rPr>
              <a:t>Stuart </a:t>
            </a:r>
            <a:r>
              <a:rPr lang="es-CL" b="1" dirty="0" err="1">
                <a:solidFill>
                  <a:schemeClr val="bg1"/>
                </a:solidFill>
              </a:rPr>
              <a:t>Haygarth</a:t>
            </a:r>
            <a:r>
              <a:rPr lang="es-CL" b="1" dirty="0">
                <a:solidFill>
                  <a:schemeClr val="bg1"/>
                </a:solidFill>
              </a:rPr>
              <a:t> — </a:t>
            </a:r>
            <a:r>
              <a:rPr lang="es-CL" b="1" i="1" dirty="0" err="1">
                <a:solidFill>
                  <a:schemeClr val="bg1"/>
                </a:solidFill>
              </a:rPr>
              <a:t>Tide</a:t>
            </a:r>
            <a:r>
              <a:rPr lang="es-CL" dirty="0">
                <a:solidFill>
                  <a:schemeClr val="bg1"/>
                </a:solidFill>
              </a:rPr>
              <a:t> (2005)</a:t>
            </a:r>
            <a:br>
              <a:rPr lang="es-CL" dirty="0">
                <a:solidFill>
                  <a:schemeClr val="bg1"/>
                </a:solidFill>
              </a:rPr>
            </a:br>
            <a:r>
              <a:rPr lang="es-CL" dirty="0">
                <a:solidFill>
                  <a:schemeClr val="bg1"/>
                </a:solidFill>
              </a:rPr>
              <a:t>Lámpara esférica hecha solo con objetos plásticos translúcidos recogidos en una playa de Kent; la esfera alude a la luna, que mueve las mareas que arrastran esos desechos.</a:t>
            </a:r>
            <a:endParaRPr lang="es-CL" sz="2400" dirty="0">
              <a:solidFill>
                <a:schemeClr val="bg1"/>
              </a:solidFill>
            </a:endParaRPr>
          </a:p>
        </p:txBody>
      </p:sp>
      <p:pic>
        <p:nvPicPr>
          <p:cNvPr id="20" name="Imagen 19" descr="TIDE chandelier par Stuart Haygarth sur artnet">
            <a:extLst>
              <a:ext uri="{FF2B5EF4-FFF2-40B4-BE49-F238E27FC236}">
                <a16:creationId xmlns:a16="http://schemas.microsoft.com/office/drawing/2014/main" id="{B0EC831D-EC0B-A263-5EB8-9D7D0BE1A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291" y="1663659"/>
            <a:ext cx="2334477" cy="2933701"/>
          </a:xfrm>
          <a:prstGeom prst="rect">
            <a:avLst/>
          </a:prstGeom>
        </p:spPr>
      </p:pic>
      <p:pic>
        <p:nvPicPr>
          <p:cNvPr id="21" name="Imagen 20" descr="Green Flash - Bruce Munro Studio">
            <a:extLst>
              <a:ext uri="{FF2B5EF4-FFF2-40B4-BE49-F238E27FC236}">
                <a16:creationId xmlns:a16="http://schemas.microsoft.com/office/drawing/2014/main" id="{0738F1FE-617B-45B0-AFDD-36162CCBF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6082" y="1932080"/>
            <a:ext cx="2359709" cy="1652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518</Words>
  <Application>Microsoft Office PowerPoint</Application>
  <PresentationFormat>Presentación en pantalla 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Nina Ossa Guerra</cp:lastModifiedBy>
  <cp:revision>2</cp:revision>
  <dcterms:created xsi:type="dcterms:W3CDTF">2026-09-21T13:19:49Z</dcterms:created>
  <dcterms:modified xsi:type="dcterms:W3CDTF">2026-09-21T13:48:42Z</dcterms:modified>
</cp:coreProperties>
</file>